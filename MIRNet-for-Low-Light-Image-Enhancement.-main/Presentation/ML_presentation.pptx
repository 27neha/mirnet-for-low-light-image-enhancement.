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7" r:id="rId9"/>
    <p:sldId id="276" r:id="rId10"/>
    <p:sldId id="274" r:id="rId11"/>
    <p:sldId id="267" r:id="rId12"/>
  </p:sldIdLst>
  <p:sldSz cx="18288000" cy="10287000"/>
  <p:notesSz cx="6858000" cy="9144000"/>
  <p:embeddedFontLst>
    <p:embeddedFont>
      <p:font typeface="Abril Fatface" panose="02000503000000020003" pitchFamily="2" charset="0"/>
      <p:regular r:id="rId14"/>
    </p:embeddedFont>
    <p:embeddedFont>
      <p:font typeface="Arial Bold" panose="020B0704020202020204" pitchFamily="3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Let's delve deeper into the exciting world of sustainability and AI.</a:t>
            </a:r>
          </a:p>
          <a:p>
            <a:r>
              <a:rPr lang="en-US"/>
              <a:t>In this chapter, we'll explore how artificial intelligence can be a powerful tool for addressing environmental challenges and promoting sustainable practices. We'll discuss specific applications of AI in various sectors and analyze its potential to drive positive change.</a:t>
            </a:r>
          </a:p>
          <a:p>
            <a:r>
              <a:rPr lang="en-US"/>
              <a:t>Get ready to discover the innovative ways AI is contributing to a more sustainable future!</a:t>
            </a:r>
          </a:p>
          <a:p>
            <a:endParaRPr lang="en-US"/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Let's outline what you'll learn in this presentation.</a:t>
            </a:r>
          </a:p>
          <a:p>
            <a:r>
              <a:rPr lang="en-US"/>
              <a:t>By the end, you'll be able to:</a:t>
            </a:r>
          </a:p>
          <a:p>
            <a:r>
              <a:rPr lang="en-US"/>
              <a:t>Understand how AI helps solve problems like climate change, resource depletion, and biodiversity loss.</a:t>
            </a:r>
          </a:p>
          <a:p>
            <a:r>
              <a:rPr lang="en-US"/>
              <a:t>Identify key AI uses in energy efficiency, waste management, and climate change.</a:t>
            </a:r>
          </a:p>
          <a:p>
            <a:r>
              <a:rPr lang="en-US"/>
              <a:t>Analyze AI's role in sustainable agriculture and cities.</a:t>
            </a:r>
          </a:p>
          <a:p>
            <a:r>
              <a:rPr lang="en-US"/>
              <a:t>Evaluate AI's use in environmental monitoring using satellites, real-time data, and predictions.</a:t>
            </a:r>
          </a:p>
          <a:p>
            <a:r>
              <a:rPr lang="en-US"/>
              <a:t>Apply AI strategies in logistics and transportation to make them more sustainable.</a:t>
            </a:r>
          </a:p>
          <a:p>
            <a:r>
              <a:rPr lang="en-US"/>
              <a:t>Get ready to discover how AI can help create a greener future!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Thank You !!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sv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626"/>
            <a:ext cx="18288000" cy="990600"/>
            <a:chOff x="0" y="0"/>
            <a:chExt cx="4816593" cy="2608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0899"/>
            </a:xfrm>
            <a:custGeom>
              <a:avLst/>
              <a:gdLst/>
              <a:ahLst/>
              <a:cxnLst/>
              <a:rect l="l" t="t" r="r" b="b"/>
              <a:pathLst>
                <a:path w="4816592" h="260899">
                  <a:moveTo>
                    <a:pt x="0" y="0"/>
                  </a:moveTo>
                  <a:lnTo>
                    <a:pt x="4816592" y="0"/>
                  </a:lnTo>
                  <a:lnTo>
                    <a:pt x="4816592" y="260899"/>
                  </a:lnTo>
                  <a:lnTo>
                    <a:pt x="0" y="260899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18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15597" y="1028700"/>
            <a:ext cx="3104504" cy="733294"/>
            <a:chOff x="0" y="0"/>
            <a:chExt cx="4139339" cy="977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39339" cy="977725"/>
            </a:xfrm>
            <a:custGeom>
              <a:avLst/>
              <a:gdLst/>
              <a:ahLst/>
              <a:cxnLst/>
              <a:rect l="l" t="t" r="r" b="b"/>
              <a:pathLst>
                <a:path w="4139339" h="977725">
                  <a:moveTo>
                    <a:pt x="0" y="0"/>
                  </a:moveTo>
                  <a:lnTo>
                    <a:pt x="4139339" y="0"/>
                  </a:lnTo>
                  <a:lnTo>
                    <a:pt x="4139339" y="977725"/>
                  </a:lnTo>
                  <a:lnTo>
                    <a:pt x="0" y="977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925435" y="45303"/>
              <a:ext cx="753852" cy="753852"/>
            </a:xfrm>
            <a:custGeom>
              <a:avLst/>
              <a:gdLst/>
              <a:ahLst/>
              <a:cxnLst/>
              <a:rect l="l" t="t" r="r" b="b"/>
              <a:pathLst>
                <a:path w="753852" h="753852">
                  <a:moveTo>
                    <a:pt x="0" y="0"/>
                  </a:moveTo>
                  <a:lnTo>
                    <a:pt x="753852" y="0"/>
                  </a:lnTo>
                  <a:lnTo>
                    <a:pt x="753852" y="753851"/>
                  </a:lnTo>
                  <a:lnTo>
                    <a:pt x="0" y="753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303870" y="55588"/>
              <a:ext cx="753852" cy="753852"/>
            </a:xfrm>
            <a:custGeom>
              <a:avLst/>
              <a:gdLst/>
              <a:ahLst/>
              <a:cxnLst/>
              <a:rect l="l" t="t" r="r" b="b"/>
              <a:pathLst>
                <a:path w="753852" h="753852">
                  <a:moveTo>
                    <a:pt x="0" y="0"/>
                  </a:moveTo>
                  <a:lnTo>
                    <a:pt x="753851" y="0"/>
                  </a:lnTo>
                  <a:lnTo>
                    <a:pt x="753851" y="753852"/>
                  </a:lnTo>
                  <a:lnTo>
                    <a:pt x="0" y="753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1624938" y="65878"/>
              <a:ext cx="731010" cy="731010"/>
            </a:xfrm>
            <a:custGeom>
              <a:avLst/>
              <a:gdLst/>
              <a:ahLst/>
              <a:cxnLst/>
              <a:rect l="l" t="t" r="r" b="b"/>
              <a:pathLst>
                <a:path w="731010" h="731010">
                  <a:moveTo>
                    <a:pt x="0" y="0"/>
                  </a:moveTo>
                  <a:lnTo>
                    <a:pt x="731010" y="0"/>
                  </a:lnTo>
                  <a:lnTo>
                    <a:pt x="731010" y="731010"/>
                  </a:lnTo>
                  <a:lnTo>
                    <a:pt x="0" y="73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308535" y="122119"/>
              <a:ext cx="66138" cy="619432"/>
            </a:xfrm>
            <a:custGeom>
              <a:avLst/>
              <a:gdLst/>
              <a:ahLst/>
              <a:cxnLst/>
              <a:rect l="l" t="t" r="r" b="b"/>
              <a:pathLst>
                <a:path w="66138" h="619432">
                  <a:moveTo>
                    <a:pt x="0" y="0"/>
                  </a:moveTo>
                  <a:lnTo>
                    <a:pt x="66138" y="0"/>
                  </a:lnTo>
                  <a:lnTo>
                    <a:pt x="66138" y="619432"/>
                  </a:lnTo>
                  <a:lnTo>
                    <a:pt x="0" y="619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09028" y="122119"/>
              <a:ext cx="66230" cy="619432"/>
            </a:xfrm>
            <a:custGeom>
              <a:avLst/>
              <a:gdLst/>
              <a:ahLst/>
              <a:cxnLst/>
              <a:rect l="l" t="t" r="r" b="b"/>
              <a:pathLst>
                <a:path w="66230" h="619432">
                  <a:moveTo>
                    <a:pt x="0" y="0"/>
                  </a:moveTo>
                  <a:lnTo>
                    <a:pt x="66229" y="0"/>
                  </a:lnTo>
                  <a:lnTo>
                    <a:pt x="66229" y="619432"/>
                  </a:lnTo>
                  <a:lnTo>
                    <a:pt x="0" y="619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145626" y="22632"/>
            <a:ext cx="5163485" cy="2605580"/>
          </a:xfrm>
          <a:custGeom>
            <a:avLst/>
            <a:gdLst/>
            <a:ahLst/>
            <a:cxnLst/>
            <a:rect l="l" t="t" r="r" b="b"/>
            <a:pathLst>
              <a:path w="5163485" h="2605580">
                <a:moveTo>
                  <a:pt x="0" y="0"/>
                </a:moveTo>
                <a:lnTo>
                  <a:pt x="5163485" y="0"/>
                </a:lnTo>
                <a:lnTo>
                  <a:pt x="5163485" y="2605580"/>
                </a:lnTo>
                <a:lnTo>
                  <a:pt x="0" y="26055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501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377437" y="2620779"/>
            <a:ext cx="337087" cy="179046"/>
            <a:chOff x="0" y="0"/>
            <a:chExt cx="88780" cy="471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780" cy="47156"/>
            </a:xfrm>
            <a:custGeom>
              <a:avLst/>
              <a:gdLst/>
              <a:ahLst/>
              <a:cxnLst/>
              <a:rect l="l" t="t" r="r" b="b"/>
              <a:pathLst>
                <a:path w="88780" h="47156">
                  <a:moveTo>
                    <a:pt x="23578" y="0"/>
                  </a:moveTo>
                  <a:lnTo>
                    <a:pt x="65202" y="0"/>
                  </a:lnTo>
                  <a:cubicBezTo>
                    <a:pt x="78224" y="0"/>
                    <a:pt x="88780" y="10556"/>
                    <a:pt x="88780" y="23578"/>
                  </a:cubicBezTo>
                  <a:lnTo>
                    <a:pt x="88780" y="23578"/>
                  </a:lnTo>
                  <a:cubicBezTo>
                    <a:pt x="88780" y="29831"/>
                    <a:pt x="86296" y="35829"/>
                    <a:pt x="81874" y="40250"/>
                  </a:cubicBezTo>
                  <a:cubicBezTo>
                    <a:pt x="77453" y="44672"/>
                    <a:pt x="71455" y="47156"/>
                    <a:pt x="65202" y="47156"/>
                  </a:cubicBezTo>
                  <a:lnTo>
                    <a:pt x="23578" y="47156"/>
                  </a:lnTo>
                  <a:cubicBezTo>
                    <a:pt x="10556" y="47156"/>
                    <a:pt x="0" y="36600"/>
                    <a:pt x="0" y="23578"/>
                  </a:cubicBezTo>
                  <a:lnTo>
                    <a:pt x="0" y="23578"/>
                  </a:lnTo>
                  <a:cubicBezTo>
                    <a:pt x="0" y="10556"/>
                    <a:pt x="10556" y="0"/>
                    <a:pt x="2357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8780" cy="10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26967" y="2011496"/>
            <a:ext cx="13800804" cy="2232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MIRNET for Low-Light Image Enhancement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90904" y="4858409"/>
            <a:ext cx="7781464" cy="1912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1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NAME OF STUDENT                ROLL NUMBER</a:t>
            </a:r>
          </a:p>
          <a:p>
            <a:pPr>
              <a:lnSpc>
                <a:spcPts val="301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  1. Tejas Bhavsar                             BTAI-04</a:t>
            </a:r>
          </a:p>
          <a:p>
            <a:pPr>
              <a:lnSpc>
                <a:spcPts val="301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2. Neha Mahajan                             BTAI-26</a:t>
            </a:r>
          </a:p>
          <a:p>
            <a:pPr>
              <a:lnSpc>
                <a:spcPts val="301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 3.Prathmesh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Nangare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                  BTAI-40</a:t>
            </a:r>
          </a:p>
          <a:p>
            <a:pPr>
              <a:lnSpc>
                <a:spcPts val="301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4. Krishna Shinde                            BTAI-49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68781" y="8120161"/>
            <a:ext cx="698674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THIRD YEAR ARTIFICIAL INTELLIGENCE &amp; DATA SCIENCE-2025-2026.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3577">
            <a:off x="-9530" y="9083040"/>
            <a:ext cx="1830706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03182" y="1382332"/>
            <a:ext cx="7354863" cy="86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621898" y="1686916"/>
            <a:ext cx="6904239" cy="6920568"/>
            <a:chOff x="0" y="0"/>
            <a:chExt cx="9205652" cy="92274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05595" cy="9227439"/>
            </a:xfrm>
            <a:custGeom>
              <a:avLst/>
              <a:gdLst/>
              <a:ahLst/>
              <a:cxnLst/>
              <a:rect l="l" t="t" r="r" b="b"/>
              <a:pathLst>
                <a:path w="9205595" h="9227439">
                  <a:moveTo>
                    <a:pt x="0" y="0"/>
                  </a:moveTo>
                  <a:lnTo>
                    <a:pt x="9205595" y="0"/>
                  </a:lnTo>
                  <a:lnTo>
                    <a:pt x="9205595" y="9227439"/>
                  </a:lnTo>
                  <a:lnTo>
                    <a:pt x="0" y="9227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8" r="-11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3182" y="2512996"/>
            <a:ext cx="7870894" cy="475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 – Introduction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Wow Factor in Project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Modelling/Block Diagram/Flow of Project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Result/outcomes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Perspective</a:t>
            </a:r>
          </a:p>
          <a:p>
            <a:pPr marL="434340" lvl="1" indent="-217170" algn="l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3C67-9A87-F0C9-1CC5-11D7115B6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647700"/>
            <a:ext cx="16687800" cy="177482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BBC131-B88D-0B48-D34D-40DF1771A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705100"/>
            <a:ext cx="16116300" cy="64770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Therefore, the "suboptimal restoration quality" is a direct consequence of this architectural compromise.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model strong in context is weak in detail, and vice-versa. An ideal solution requires a novel architecture that can bypass this trade-off, maintaining a high-resolution pathway for spatial precision while simultaneously possessing a mechanism to access and integrate multi-scale contextual information.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is the precise problem that the MIRNET architecture is designed to solve.</a:t>
            </a: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15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508D-1639-5C20-8E79-3DD6142D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09A8-D48C-E409-0841-0C5BBBE44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647700"/>
            <a:ext cx="16687800" cy="177482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9166D-C9B3-C48C-968A-E070BABED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705100"/>
            <a:ext cx="16116300" cy="647700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Identification: Addressing the challenge of enhancing low-light images degraded by noise and poor contrast.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Gap: Existing methods struggle to balance detail preservation with contextual understanding.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Introducing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MIRNet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multi-scale CNN architecture.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Innovation: Maintaining high-resolution processing while integrating multi-scale features.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Mechanism: Using Multi-Scale Residual Blocks for parallel processing at different resolutions.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Enhancement: Implementing Dual Attention Units for spatial and channel refinement.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Fusion: Employing Selective Kernel Fusion to dynamically combine features.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Training on the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LoL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with Charbonnier loss for robust enhancement.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161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A21968-55A2-A33A-A186-D689B7F33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857500"/>
            <a:ext cx="15925800" cy="67818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Photography &amp; Consumer Electronics: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 users and amateur photographers.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Surveillance: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enhancing footage from CCTV and security cameras.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low-light medical scans (e.g., ultrasound, endoscopic images).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Automotive Industry: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night-vision systems in autonomous vehicles.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Astronomical Imaging: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images from telescopes and space probes.</a:t>
            </a:r>
          </a:p>
          <a:p>
            <a:pPr algn="l"/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D23A62-BED1-F594-047E-784447AFC501}"/>
              </a:ext>
            </a:extLst>
          </p:cNvPr>
          <p:cNvSpPr txBox="1">
            <a:spLocks/>
          </p:cNvSpPr>
          <p:nvPr/>
        </p:nvSpPr>
        <p:spPr>
          <a:xfrm>
            <a:off x="800100" y="647700"/>
            <a:ext cx="16687800" cy="177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 Users</a:t>
            </a:r>
          </a:p>
        </p:txBody>
      </p:sp>
    </p:spTree>
    <p:extLst>
      <p:ext uri="{BB962C8B-B14F-4D97-AF65-F5344CB8AC3E}">
        <p14:creationId xmlns:p14="http://schemas.microsoft.com/office/powerpoint/2010/main" val="365835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D1BF-DA29-CA3C-13E1-BF5ED4C2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B0AE12-62C0-9081-0CD7-0E7BED68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857500"/>
            <a:ext cx="15925800" cy="6781800"/>
          </a:xfrm>
        </p:spPr>
        <p:txBody>
          <a:bodyPr/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Breaks the Classic Trade-off: Uniquely preserves fine details AND captures broad context, unlike previous models.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Information Flow: Recursively fuses information both top-down and bottom-up across all scales.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"Intelligent" Fusion: Selective Kernel Fusion dynamically chooses the best features from each scale, unlike simple concatenation.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 State-of-the-Art Performance: Achieves superior results on benchmark datasets for multiple tasks (enhancement, denoising, super-resolution).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Quantitative Results: Achieved a high PSNR of ~65 dB, indicating excellent reconstruction fidelity.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C3634D-CAE7-3D65-F534-930B3DF06882}"/>
              </a:ext>
            </a:extLst>
          </p:cNvPr>
          <p:cNvSpPr txBox="1">
            <a:spLocks/>
          </p:cNvSpPr>
          <p:nvPr/>
        </p:nvSpPr>
        <p:spPr>
          <a:xfrm>
            <a:off x="800100" y="647700"/>
            <a:ext cx="16687800" cy="177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Wow Factor in Project </a:t>
            </a:r>
          </a:p>
        </p:txBody>
      </p:sp>
    </p:spTree>
    <p:extLst>
      <p:ext uri="{BB962C8B-B14F-4D97-AF65-F5344CB8AC3E}">
        <p14:creationId xmlns:p14="http://schemas.microsoft.com/office/powerpoint/2010/main" val="413234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0E4A-4B8C-C134-F856-E6B578D6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D71399-E695-2303-B19C-2D6B68B8C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857500"/>
            <a:ext cx="15925800" cy="6781800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Pipeline: Input Low-light Image → Pre-processing → MIRNET Enhancement → Post-processing → Output Enhanced Image .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MIRNET Core Architecture: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Multi-Scale Streams: High, Medium, and Low-resolution branches.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Multi-Scale Residual Block (MRB): The main building block.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 Dual Attention Units (DAU) for feature refinement.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 Selective Kernel Fusion (SKF) to combine streams.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Residual Connections: For stable training and deep network construction.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Optimizer: Adam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IN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ReduceLROnPlateau 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 Charbonnier Loss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9BDF2-68F8-82E1-1586-3046483FD39C}"/>
              </a:ext>
            </a:extLst>
          </p:cNvPr>
          <p:cNvSpPr txBox="1">
            <a:spLocks/>
          </p:cNvSpPr>
          <p:nvPr/>
        </p:nvSpPr>
        <p:spPr>
          <a:xfrm>
            <a:off x="800100" y="647700"/>
            <a:ext cx="16687800" cy="177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Modelling/Block Diagram/Flow of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0304-5BF9-E592-F7E7-D1661F53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414BDD-FDA0-C980-9FFA-93AABAB69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857500"/>
            <a:ext cx="15925800" cy="6781800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 (Graphs):</a:t>
            </a:r>
          </a:p>
          <a:p>
            <a:pPr marL="1028700" lvl="1" indent="-5715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PSNR (~65 dB): Confirms pixel-level accuracy close to ground truth.</a:t>
            </a:r>
          </a:p>
          <a:p>
            <a:pPr marL="1028700" lvl="1" indent="-5715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&amp; Converging Loss: Shows effective learning without overfitting.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Results (Image Grid):</a:t>
            </a:r>
          </a:p>
          <a:p>
            <a:pPr marL="1028700" lvl="1" indent="-5715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Original: Dramatically improves brightness, contrast, and </a:t>
            </a:r>
            <a:r>
              <a:rPr lang="en-I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571500" algn="l"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PIL Auto contrast (Baseline):</a:t>
            </a:r>
          </a:p>
          <a:p>
            <a:pPr marL="1371600" lvl="2" indent="-4572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MIRNET effectively suppresses noise while </a:t>
            </a:r>
            <a:r>
              <a:rPr lang="en-IN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Autocontrast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amplifies it.</a:t>
            </a:r>
          </a:p>
          <a:p>
            <a:pPr marL="1371600" lvl="2" indent="-4572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MIRNET recovers details in both dark and bright areas; </a:t>
            </a:r>
            <a:r>
              <a:rPr lang="en-IN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Autocontrast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causes over/under-exposure.</a:t>
            </a:r>
          </a:p>
          <a:p>
            <a:pPr marL="1371600" lvl="2" indent="-4572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MIRNET produces more natural and perceptually superior </a:t>
            </a:r>
            <a:r>
              <a:rPr lang="en-IN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5B3EC9-B0A1-F083-EA3D-F67DED75BC6E}"/>
              </a:ext>
            </a:extLst>
          </p:cNvPr>
          <p:cNvSpPr txBox="1">
            <a:spLocks/>
          </p:cNvSpPr>
          <p:nvPr/>
        </p:nvSpPr>
        <p:spPr>
          <a:xfrm>
            <a:off x="800100" y="647700"/>
            <a:ext cx="16687800" cy="177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Result/outcomes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91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2134-29A4-1A16-3E29-1AF80F1E5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6620BD-E16B-0C60-E24C-7EA22BB3A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857500"/>
            <a:ext cx="15925800" cy="67818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MIRNET successfully resolves the ill-posed problem of low-light enhancement.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multi-scale design with bidirectional fusion effectively bridges the context-detail preservation gap.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delivers state-of-the-art results, producing clean, bright, and detailed images from challenging low-light inputs.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validates that intelligent multi-scale feature learning is key to high-quality image restoration.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B5D085-746B-2FEE-3241-D687A03FD3F9}"/>
              </a:ext>
            </a:extLst>
          </p:cNvPr>
          <p:cNvSpPr txBox="1">
            <a:spLocks/>
          </p:cNvSpPr>
          <p:nvPr/>
        </p:nvSpPr>
        <p:spPr>
          <a:xfrm>
            <a:off x="800100" y="647700"/>
            <a:ext cx="16687800" cy="177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66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E01A-A05D-98A3-CDB5-54D03DC9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219A8-DD71-44FD-443A-A7150D40F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857500"/>
            <a:ext cx="15925800" cy="67818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Efficiency: Develop lightweight versions for mobile/real-time use via quantization and distillation.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 Improve performance across diverse devices and extreme conditions with better datasets and domain adaptation.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 Integrate Transformer modules for enhanced global context and use Neural Architecture Search.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 Extend to video enhancement, simultaneous super-resolution, and specialized fields like medical imaging.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Paradigms: Explore unsupervised and zero-shot learning to reduce dependency on paired data. 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0D172D-A0AA-672A-D00C-B4E3F786D063}"/>
              </a:ext>
            </a:extLst>
          </p:cNvPr>
          <p:cNvSpPr txBox="1">
            <a:spLocks/>
          </p:cNvSpPr>
          <p:nvPr/>
        </p:nvSpPr>
        <p:spPr>
          <a:xfrm>
            <a:off x="800100" y="647700"/>
            <a:ext cx="16687800" cy="177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Perspective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3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57328" y="3539034"/>
            <a:ext cx="5839471" cy="11541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933</Words>
  <Application>Microsoft Office PowerPoint</Application>
  <PresentationFormat>Custom</PresentationFormat>
  <Paragraphs>108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 Bold</vt:lpstr>
      <vt:lpstr>Times New Roman</vt:lpstr>
      <vt:lpstr>Abril Fatface</vt:lpstr>
      <vt:lpstr>Wingdings</vt:lpstr>
      <vt:lpstr>Calibri</vt:lpstr>
      <vt:lpstr>Aptos</vt:lpstr>
      <vt:lpstr>Arial</vt:lpstr>
      <vt:lpstr>Office Theme</vt:lpstr>
      <vt:lpstr>PowerPoint Presentation</vt:lpstr>
      <vt:lpstr>PowerPoint Presentation</vt:lpstr>
      <vt:lpstr>Problem Statement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Temp.pptx</dc:title>
  <cp:lastModifiedBy>bhavsartejas027@gmail.com</cp:lastModifiedBy>
  <cp:revision>35</cp:revision>
  <dcterms:created xsi:type="dcterms:W3CDTF">2006-08-16T00:00:00Z</dcterms:created>
  <dcterms:modified xsi:type="dcterms:W3CDTF">2025-11-25T17:36:08Z</dcterms:modified>
  <dc:identifier>DAG48d8UQyo</dc:identifier>
</cp:coreProperties>
</file>